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8" r:id="rId1"/>
    <p:sldMasterId id="2147483825" r:id="rId2"/>
  </p:sldMasterIdLst>
  <p:notesMasterIdLst>
    <p:notesMasterId r:id="rId10"/>
  </p:notesMasterIdLst>
  <p:sldIdLst>
    <p:sldId id="256" r:id="rId3"/>
    <p:sldId id="258" r:id="rId4"/>
    <p:sldId id="260" r:id="rId5"/>
    <p:sldId id="261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75"/>
    <p:restoredTop sz="91440"/>
  </p:normalViewPr>
  <p:slideViewPr>
    <p:cSldViewPr snapToGrid="0">
      <p:cViewPr>
        <p:scale>
          <a:sx n="67" d="100"/>
          <a:sy n="67" d="100"/>
        </p:scale>
        <p:origin x="32" y="1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8523A-08D8-0F4E-9BAF-E404D818B1C3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6F28E-663B-4146-8058-B473CAD95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863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not about the severity of one symptom. It’s the totality of all impairment that determines the score.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6F28E-663B-4146-8058-B473CAD9598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532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6F28E-663B-4146-8058-B473CAD9598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6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D41-1118-BD49-A1C4-C9ED07583F4F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C922299-124A-154E-A362-EF82E5F7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8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D41-1118-BD49-A1C4-C9ED07583F4F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2299-124A-154E-A362-EF82E5F7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2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D41-1118-BD49-A1C4-C9ED07583F4F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C922299-124A-154E-A362-EF82E5F7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40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D41-1118-BD49-A1C4-C9ED07583F4F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C922299-124A-154E-A362-EF82E5F7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79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D41-1118-BD49-A1C4-C9ED07583F4F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C922299-124A-154E-A362-EF82E5F7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846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D41-1118-BD49-A1C4-C9ED07583F4F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2299-124A-154E-A362-EF82E5F7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44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D41-1118-BD49-A1C4-C9ED07583F4F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2299-124A-154E-A362-EF82E5F7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31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D41-1118-BD49-A1C4-C9ED07583F4F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2299-124A-154E-A362-EF82E5F7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79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D41-1118-BD49-A1C4-C9ED07583F4F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922299-124A-154E-A362-EF82E5F7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063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D41-1118-BD49-A1C4-C9ED07583F4F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C922299-124A-154E-A362-EF82E5F7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773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D41-1118-BD49-A1C4-C9ED07583F4F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C922299-124A-154E-A362-EF82E5F737D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5083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D41-1118-BD49-A1C4-C9ED07583F4F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922299-124A-154E-A362-EF82E5F7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219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D41-1118-BD49-A1C4-C9ED07583F4F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922299-124A-154E-A362-EF82E5F737D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1702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D41-1118-BD49-A1C4-C9ED07583F4F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922299-124A-154E-A362-EF82E5F7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60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D41-1118-BD49-A1C4-C9ED07583F4F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2299-124A-154E-A362-EF82E5F7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933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D41-1118-BD49-A1C4-C9ED07583F4F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2299-124A-154E-A362-EF82E5F7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95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54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335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6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42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987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948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780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652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093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385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31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E4D41-1118-BD49-A1C4-C9ED07583F4F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C922299-124A-154E-A362-EF82E5F7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41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14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2/mds.22340" TargetMode="External"/><Relationship Id="rId2" Type="http://schemas.openxmlformats.org/officeDocument/2006/relationships/hyperlink" Target="https://doi.org/10.1101/2024.02.14.2430281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02/acn3.644" TargetMode="External"/><Relationship Id="rId4" Type="http://schemas.openxmlformats.org/officeDocument/2006/relationships/hyperlink" Target="https://www.protocols.io/view/the-parkinson-s-progression-markers-initiative-ppm-n92ldmw6ol5b/v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8FF31-47C5-8CA6-2587-48580B77F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1166219"/>
            <a:ext cx="8915399" cy="2262781"/>
          </a:xfrm>
        </p:spPr>
        <p:txBody>
          <a:bodyPr/>
          <a:lstStyle/>
          <a:p>
            <a:r>
              <a:rPr lang="en-US" dirty="0"/>
              <a:t>NSD Staging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A1630-FB3F-9002-D4FA-94A1ECC5EE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Alan Antar </a:t>
            </a:r>
          </a:p>
          <a:p>
            <a:r>
              <a:rPr lang="en-US" i="1" dirty="0"/>
              <a:t>Laboratory for Modeling and Computing In Imaging and Genetics(LAMCIG) </a:t>
            </a:r>
          </a:p>
          <a:p>
            <a:r>
              <a:rPr lang="en-US" i="1" dirty="0"/>
              <a:t>Illinois Institute of Technology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776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024DF-FCD8-88CA-4E1F-27ABDF590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019" y="942108"/>
            <a:ext cx="3256550" cy="4969113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2">
                    <a:lumMod val="75000"/>
                  </a:schemeClr>
                </a:solidFill>
              </a:rPr>
              <a:t>Introduction to NSD-ISS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676FB-1C74-6E58-1F66-5136A6C41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9062" y="942108"/>
            <a:ext cx="6455549" cy="4969114"/>
          </a:xfrm>
        </p:spPr>
        <p:txBody>
          <a:bodyPr anchor="ctr">
            <a:normAutofit lnSpcReduction="10000"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The Neuronal alpha-synuclein Disease Integrated Staging System(NSD-ISS) is used for classifying and tracking alpha-synuclein disease progression, primarily in individuals with or at risk for Parkinson’s Disease. 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Staging incorporates 3 components: 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Alpha-synuclein pathology, detected  by CSF alpha-synuclein seed amplification assay(SAA)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Dopaminergic dysfunction, detected using DAT-SPECT imaging. 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Clinical features include motor, cognitive, and other nonmotor symptoms/ functional impairments. Determined using </a:t>
            </a: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Only after neuronal alpha-synuclein disease is established biologically, clinical and functional scores determine whether a person is in stage 2 or has progressed to stages 3-6 </a:t>
            </a:r>
          </a:p>
        </p:txBody>
      </p:sp>
    </p:spTree>
    <p:extLst>
      <p:ext uri="{BB962C8B-B14F-4D97-AF65-F5344CB8AC3E}">
        <p14:creationId xmlns:p14="http://schemas.microsoft.com/office/powerpoint/2010/main" val="1227353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CC93-88AC-F54E-BD11-071547C45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en-US"/>
              <a:t>How Clinical Features Inform Individual’s NSD Stage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423158-FB6F-3F3E-B6FF-C117BFD3F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25362"/>
            <a:ext cx="5835121" cy="378586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sz="1300"/>
              <a:t>The Movement Disorder Society developed a Unified Parkinson’s Disease Rating Scale (MDS-UPDRS) that measures motor symptoms, nonmotor symptoms, and their effects on Daily function. </a:t>
            </a:r>
          </a:p>
          <a:p>
            <a:pPr lvl="1">
              <a:lnSpc>
                <a:spcPct val="90000"/>
              </a:lnSpc>
            </a:pPr>
            <a:r>
              <a:rPr lang="en-US" sz="1300"/>
              <a:t>MDS-UPDRS has four parts, 3 of which play important yet different roles in determining an individual's NSD stage. </a:t>
            </a:r>
          </a:p>
          <a:p>
            <a:pPr lvl="1">
              <a:lnSpc>
                <a:spcPct val="90000"/>
              </a:lnSpc>
            </a:pPr>
            <a:r>
              <a:rPr lang="en-US" sz="1300"/>
              <a:t>The clinical assessment covers motor, cognitive, and other nonmotor features.</a:t>
            </a:r>
          </a:p>
          <a:p>
            <a:pPr lvl="1">
              <a:lnSpc>
                <a:spcPct val="90000"/>
              </a:lnSpc>
            </a:pPr>
            <a:r>
              <a:rPr lang="en-US" sz="1300"/>
              <a:t>Stage 2 covers qualifying clinical signs or symptoms without functional impairment. </a:t>
            </a:r>
          </a:p>
          <a:p>
            <a:pPr lvl="1">
              <a:lnSpc>
                <a:spcPct val="90000"/>
              </a:lnSpc>
            </a:pPr>
            <a:r>
              <a:rPr lang="en-US" sz="1300"/>
              <a:t>Stages 3-6: increasing impairment in daily function, from slight to severe. </a:t>
            </a:r>
          </a:p>
          <a:p>
            <a:pPr>
              <a:lnSpc>
                <a:spcPct val="90000"/>
              </a:lnSpc>
            </a:pPr>
            <a:r>
              <a:rPr lang="en-US" sz="1300"/>
              <a:t>Predefined clinical thresholds determine the stage. </a:t>
            </a:r>
          </a:p>
          <a:p>
            <a:pPr lvl="1">
              <a:lnSpc>
                <a:spcPct val="90000"/>
              </a:lnSpc>
            </a:pPr>
            <a:r>
              <a:rPr lang="en-US" sz="1300"/>
              <a:t>The highest qualifying pathway determines the final assignment. </a:t>
            </a:r>
          </a:p>
          <a:p>
            <a:pPr>
              <a:lnSpc>
                <a:spcPct val="90000"/>
              </a:lnSpc>
            </a:pPr>
            <a:r>
              <a:rPr lang="en-US" sz="1300"/>
              <a:t>Each Item is rated from 0(normal) to 4(severe) </a:t>
            </a:r>
          </a:p>
          <a:p>
            <a:pPr lvl="1">
              <a:lnSpc>
                <a:spcPct val="90000"/>
              </a:lnSpc>
            </a:pPr>
            <a:r>
              <a:rPr lang="en-US" sz="1300"/>
              <a:t>The total represents accumulated impairment across several activities. </a:t>
            </a:r>
          </a:p>
        </p:txBody>
      </p:sp>
      <p:pic>
        <p:nvPicPr>
          <p:cNvPr id="10" name="Graphic 9" descr="Brain">
            <a:extLst>
              <a:ext uri="{FF2B5EF4-FFF2-40B4-BE49-F238E27FC236}">
                <a16:creationId xmlns:a16="http://schemas.microsoft.com/office/drawing/2014/main" id="{AA48F363-3B26-837A-00DF-70791E851D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1452" y="2561913"/>
            <a:ext cx="2873159" cy="287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26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5510-CD15-2EAA-A0E2-4D5E12A37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MDS-UPDRS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C12CEED-C25C-9EBF-D6FA-2908BB9B2C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2892315"/>
              </p:ext>
            </p:extLst>
          </p:nvPr>
        </p:nvGraphicFramePr>
        <p:xfrm>
          <a:off x="2592926" y="1483105"/>
          <a:ext cx="8911686" cy="4750785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2970562">
                  <a:extLst>
                    <a:ext uri="{9D8B030D-6E8A-4147-A177-3AD203B41FA5}">
                      <a16:colId xmlns:a16="http://schemas.microsoft.com/office/drawing/2014/main" val="122056348"/>
                    </a:ext>
                  </a:extLst>
                </a:gridCol>
                <a:gridCol w="2970562">
                  <a:extLst>
                    <a:ext uri="{9D8B030D-6E8A-4147-A177-3AD203B41FA5}">
                      <a16:colId xmlns:a16="http://schemas.microsoft.com/office/drawing/2014/main" val="2278461277"/>
                    </a:ext>
                  </a:extLst>
                </a:gridCol>
                <a:gridCol w="2970562">
                  <a:extLst>
                    <a:ext uri="{9D8B030D-6E8A-4147-A177-3AD203B41FA5}">
                      <a16:colId xmlns:a16="http://schemas.microsoft.com/office/drawing/2014/main" val="3762937837"/>
                    </a:ext>
                  </a:extLst>
                </a:gridCol>
              </a:tblGrid>
              <a:tr h="195358">
                <a:tc>
                  <a:txBody>
                    <a:bodyPr/>
                    <a:lstStyle/>
                    <a:p>
                      <a:r>
                        <a:rPr lang="en-US" dirty="0"/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it Measures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Roles in NSD-ISS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048"/>
                  </a:ext>
                </a:extLst>
              </a:tr>
              <a:tr h="1074468">
                <a:tc>
                  <a:txBody>
                    <a:bodyPr/>
                    <a:lstStyle/>
                    <a:p>
                      <a:r>
                        <a:rPr lang="en-US" b="1" dirty="0"/>
                        <a:t>Part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Nonmotor experiences of daily living: cognition,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mood, sleep, fatigue, autonomic symptoms and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related problems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Item 1.1 is used for the cognitive pathway. The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remaining Part I items define the Stage 4-6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other-nonmotor pathway.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408015"/>
                  </a:ext>
                </a:extLst>
              </a:tr>
              <a:tr h="1367505">
                <a:tc>
                  <a:txBody>
                    <a:bodyPr/>
                    <a:lstStyle/>
                    <a:p>
                      <a:r>
                        <a:rPr lang="en-US" b="1" dirty="0"/>
                        <a:t>Part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Motor experiences of daily living: speech, eating,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dressing, hygiene, handwriting, walking, getting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out of bed and similar activities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The total score directly defines the motor functional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thresholds for Stages 3-6.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722716"/>
                  </a:ext>
                </a:extLst>
              </a:tr>
              <a:tr h="927950">
                <a:tc>
                  <a:txBody>
                    <a:bodyPr/>
                    <a:lstStyle/>
                    <a:p>
                      <a:r>
                        <a:rPr lang="en-US" b="1" dirty="0"/>
                        <a:t>Part 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Clinician's examination of tremor, rigidity, bradykinesia, gait, and balance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Used mainly to identify early parkinsonism for Stage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2, rather than to grade Stage 3-6 severity.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556212"/>
                  </a:ext>
                </a:extLst>
              </a:tr>
              <a:tr h="781432">
                <a:tc>
                  <a:txBody>
                    <a:bodyPr/>
                    <a:lstStyle/>
                    <a:p>
                      <a:r>
                        <a:rPr lang="en-US" b="1" dirty="0"/>
                        <a:t>Part 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Motor complications, including fluctuations and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dyskinesia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</a:rPr>
                        <a:t>Not an official NSD-ISS staging anchor.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998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43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14C9D8-5A6A-3250-4A5D-3AC909701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826004"/>
              </p:ext>
            </p:extLst>
          </p:nvPr>
        </p:nvGraphicFramePr>
        <p:xfrm>
          <a:off x="1981200" y="1676400"/>
          <a:ext cx="8911686" cy="3644243"/>
        </p:xfrm>
        <a:graphic>
          <a:graphicData uri="http://schemas.openxmlformats.org/drawingml/2006/table">
            <a:tbl>
              <a:tblPr firstRow="1" bandRow="1"/>
              <a:tblGrid>
                <a:gridCol w="2970562">
                  <a:extLst>
                    <a:ext uri="{9D8B030D-6E8A-4147-A177-3AD203B41FA5}">
                      <a16:colId xmlns:a16="http://schemas.microsoft.com/office/drawing/2014/main" val="303857068"/>
                    </a:ext>
                  </a:extLst>
                </a:gridCol>
                <a:gridCol w="2970562">
                  <a:extLst>
                    <a:ext uri="{9D8B030D-6E8A-4147-A177-3AD203B41FA5}">
                      <a16:colId xmlns:a16="http://schemas.microsoft.com/office/drawing/2014/main" val="2043086202"/>
                    </a:ext>
                  </a:extLst>
                </a:gridCol>
                <a:gridCol w="2970562">
                  <a:extLst>
                    <a:ext uri="{9D8B030D-6E8A-4147-A177-3AD203B41FA5}">
                      <a16:colId xmlns:a16="http://schemas.microsoft.com/office/drawing/2014/main" val="1671432311"/>
                    </a:ext>
                  </a:extLst>
                </a:gridCol>
              </a:tblGrid>
              <a:tr h="195358">
                <a:tc>
                  <a:txBody>
                    <a:bodyPr/>
                    <a:lstStyle>
                      <a:lvl1pPr marL="0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1pPr>
                      <a:lvl2pPr marL="304815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2pPr>
                      <a:lvl3pPr marL="609630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3pPr>
                      <a:lvl4pPr marL="914446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4pPr>
                      <a:lvl5pPr marL="1219261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5pPr>
                      <a:lvl6pPr marL="1524076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6pPr>
                      <a:lvl7pPr marL="1828891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7pPr>
                      <a:lvl8pPr marL="2133707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8pPr>
                      <a:lvl9pPr marL="2438522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/>
                        <a:t>Measure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5991"/>
                    </a:solidFill>
                  </a:tcPr>
                </a:tc>
                <a:tc>
                  <a:txBody>
                    <a:bodyPr/>
                    <a:lstStyle>
                      <a:lvl1pPr marL="0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1pPr>
                      <a:lvl2pPr marL="304815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2pPr>
                      <a:lvl3pPr marL="609630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3pPr>
                      <a:lvl4pPr marL="914446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4pPr>
                      <a:lvl5pPr marL="1219261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5pPr>
                      <a:lvl6pPr marL="1524076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6pPr>
                      <a:lvl7pPr marL="1828891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7pPr>
                      <a:lvl8pPr marL="2133707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8pPr>
                      <a:lvl9pPr marL="2438522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/>
                        <a:t>Definition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5991"/>
                    </a:solidFill>
                  </a:tcPr>
                </a:tc>
                <a:tc>
                  <a:txBody>
                    <a:bodyPr/>
                    <a:lstStyle>
                      <a:lvl1pPr marL="0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1pPr>
                      <a:lvl2pPr marL="304815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2pPr>
                      <a:lvl3pPr marL="609630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3pPr>
                      <a:lvl4pPr marL="914446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4pPr>
                      <a:lvl5pPr marL="1219261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5pPr>
                      <a:lvl6pPr marL="1524076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6pPr>
                      <a:lvl7pPr marL="1828891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7pPr>
                      <a:lvl8pPr marL="2133707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8pPr>
                      <a:lvl9pPr marL="2438522" algn="l" defTabSz="609630" rtl="0" eaLnBrk="1" latinLnBrk="0" hangingPunct="1">
                        <a:defRPr sz="1200" b="1" kern="1200">
                          <a:solidFill>
                            <a:schemeClr val="lt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dirty="0"/>
                        <a:t>Role in NSD-ISS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59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84245"/>
                  </a:ext>
                </a:extLst>
              </a:tr>
              <a:tr h="1074468">
                <a:tc>
                  <a:txBody>
                    <a:bodyPr/>
                    <a:lstStyle>
                      <a:lvl1pPr marL="0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304815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609630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914446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219261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1524076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1828891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2133707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2438522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b="1" dirty="0"/>
                        <a:t>MoCA</a:t>
                      </a:r>
                    </a:p>
                    <a:p>
                      <a:r>
                        <a:rPr lang="en-US" b="1" dirty="0"/>
                        <a:t>(Montreal Cognitive Assessment)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304815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609630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914446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219261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1524076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1828891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2133707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2438522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200" dirty="0"/>
                        <a:t>A brief screening test that covers memory, attention, language, executive function, visuospatial ability, and orientation.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304815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609630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914446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219261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1524076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1828891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2133707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2438522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200" dirty="0"/>
                        <a:t>Combined with item 1.1 from MDS-UPDRS Part I to define the cognitive pathway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783213"/>
                  </a:ext>
                </a:extLst>
              </a:tr>
              <a:tr h="1367505">
                <a:tc>
                  <a:txBody>
                    <a:bodyPr/>
                    <a:lstStyle>
                      <a:lvl1pPr marL="0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304815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609630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914446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219261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1524076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1828891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2133707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2438522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b="1" dirty="0"/>
                        <a:t>RBD</a:t>
                      </a:r>
                    </a:p>
                    <a:p>
                      <a:r>
                        <a:rPr lang="en-US" b="1" dirty="0"/>
                        <a:t>(REM Sleep Behavior Disorder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304815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609630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914446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219261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1524076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1828891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2133707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2438522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200" dirty="0"/>
                        <a:t>Loss of normal muscle paralysis during REM sleep, which can cause a person to physically act out dreams. PPMI may be identified through clinical assessment or polysomnography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304815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609630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914446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219261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1524076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1828891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2133707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2438522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200" dirty="0"/>
                        <a:t>A qualifying nonmotor sign for Stage 2, but not a direct severity threshold for stages 3-6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765480"/>
                  </a:ext>
                </a:extLst>
              </a:tr>
              <a:tr h="927950">
                <a:tc>
                  <a:txBody>
                    <a:bodyPr/>
                    <a:lstStyle>
                      <a:lvl1pPr marL="0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304815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609630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914446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219261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1524076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1828891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2133707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2438522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b="1" dirty="0"/>
                        <a:t>UPSIT</a:t>
                      </a:r>
                    </a:p>
                    <a:p>
                      <a:r>
                        <a:rPr lang="en-US" b="1" dirty="0"/>
                        <a:t>(University of Pennsylvania Smell Detection Test)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304815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609630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914446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219261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1524076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1828891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2133707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2438522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200" dirty="0"/>
                        <a:t>A standardized test for odor identification using 40 items that an individual scratches and sniffs.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1pPr>
                      <a:lvl2pPr marL="304815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2pPr>
                      <a:lvl3pPr marL="609630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3pPr>
                      <a:lvl4pPr marL="914446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4pPr>
                      <a:lvl5pPr marL="1219261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5pPr>
                      <a:lvl6pPr marL="1524076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6pPr>
                      <a:lvl7pPr marL="1828891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7pPr>
                      <a:lvl8pPr marL="2133707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8pPr>
                      <a:lvl9pPr marL="2438522" algn="l" defTabSz="609630" rtl="0" eaLnBrk="1" latinLnBrk="0" hangingPunct="1">
                        <a:defRPr sz="1200" kern="1200">
                          <a:solidFill>
                            <a:schemeClr val="dk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r>
                        <a:rPr lang="en-US" sz="1200" dirty="0"/>
                        <a:t>Hyposmia is defined as an age and sex adjusted UPSIT percentile of 15 or lower and can satisfy a stage 2 nonmotor criterion.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20358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9BCC77EE-8543-059E-EFF3-675A2679AA7C}"/>
              </a:ext>
            </a:extLst>
          </p:cNvPr>
          <p:cNvSpPr txBox="1">
            <a:spLocks/>
          </p:cNvSpPr>
          <p:nvPr/>
        </p:nvSpPr>
        <p:spPr>
          <a:xfrm>
            <a:off x="1981199" y="395510"/>
            <a:ext cx="8911687" cy="128089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Additional Clinical Measures  </a:t>
            </a:r>
          </a:p>
        </p:txBody>
      </p:sp>
    </p:spTree>
    <p:extLst>
      <p:ext uri="{BB962C8B-B14F-4D97-AF65-F5344CB8AC3E}">
        <p14:creationId xmlns:p14="http://schemas.microsoft.com/office/powerpoint/2010/main" val="1218561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8138" y="3065784"/>
            <a:ext cx="1092140" cy="396737"/>
            <a:chOff x="0" y="0"/>
            <a:chExt cx="1370946" cy="4980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0946" cy="498017"/>
            </a:xfrm>
            <a:custGeom>
              <a:avLst/>
              <a:gdLst/>
              <a:ahLst/>
              <a:cxnLst/>
              <a:rect l="l" t="t" r="r" b="b"/>
              <a:pathLst>
                <a:path w="1370946" h="498017">
                  <a:moveTo>
                    <a:pt x="1167746" y="0"/>
                  </a:moveTo>
                  <a:lnTo>
                    <a:pt x="0" y="0"/>
                  </a:lnTo>
                  <a:lnTo>
                    <a:pt x="0" y="498017"/>
                  </a:lnTo>
                  <a:lnTo>
                    <a:pt x="1167746" y="498017"/>
                  </a:lnTo>
                  <a:lnTo>
                    <a:pt x="1370946" y="249008"/>
                  </a:lnTo>
                  <a:lnTo>
                    <a:pt x="11677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256646" cy="52659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93"/>
                </a:lnSpc>
              </a:pPr>
              <a:r>
                <a:rPr lang="en-US" sz="1066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Stage 0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02778" y="3065784"/>
            <a:ext cx="1148187" cy="396737"/>
            <a:chOff x="0" y="0"/>
            <a:chExt cx="1441300" cy="4980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1300" cy="498017"/>
            </a:xfrm>
            <a:custGeom>
              <a:avLst/>
              <a:gdLst/>
              <a:ahLst/>
              <a:cxnLst/>
              <a:rect l="l" t="t" r="r" b="b"/>
              <a:pathLst>
                <a:path w="1441300" h="498017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79BFF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7800" y="-28575"/>
              <a:ext cx="1187300" cy="52659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93"/>
                </a:lnSpc>
              </a:pPr>
              <a:r>
                <a:rPr lang="en-US" sz="1066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Stage 1B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54621" y="3065784"/>
            <a:ext cx="1148187" cy="396737"/>
            <a:chOff x="0" y="0"/>
            <a:chExt cx="1441300" cy="4980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1300" cy="498017"/>
            </a:xfrm>
            <a:custGeom>
              <a:avLst/>
              <a:gdLst/>
              <a:ahLst/>
              <a:cxnLst/>
              <a:rect l="l" t="t" r="r" b="b"/>
              <a:pathLst>
                <a:path w="1441300" h="498017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E2E8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800" y="-28575"/>
              <a:ext cx="1187300" cy="52659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93"/>
                </a:lnSpc>
              </a:pPr>
              <a:r>
                <a:rPr lang="en-US" sz="1066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Stage 2A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06465" y="3065784"/>
            <a:ext cx="1148187" cy="396737"/>
            <a:chOff x="0" y="0"/>
            <a:chExt cx="1441300" cy="4980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1300" cy="498017"/>
            </a:xfrm>
            <a:custGeom>
              <a:avLst/>
              <a:gdLst/>
              <a:ahLst/>
              <a:cxnLst/>
              <a:rect l="l" t="t" r="r" b="b"/>
              <a:pathLst>
                <a:path w="1441300" h="498017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E466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7800" y="-28575"/>
              <a:ext cx="1187300" cy="52659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93"/>
                </a:lnSpc>
              </a:pPr>
              <a:r>
                <a:rPr lang="en-US" sz="1066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Stage 2B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58308" y="3065784"/>
            <a:ext cx="1148187" cy="396737"/>
            <a:chOff x="0" y="0"/>
            <a:chExt cx="1441300" cy="49801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41300" cy="498017"/>
            </a:xfrm>
            <a:custGeom>
              <a:avLst/>
              <a:gdLst/>
              <a:ahLst/>
              <a:cxnLst/>
              <a:rect l="l" t="t" r="r" b="b"/>
              <a:pathLst>
                <a:path w="1441300" h="498017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25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7800" y="-28575"/>
              <a:ext cx="1187300" cy="52659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93"/>
                </a:lnSpc>
                <a:spcBef>
                  <a:spcPct val="0"/>
                </a:spcBef>
              </a:pPr>
              <a:r>
                <a:rPr lang="en-US" sz="1066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Stage 3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510151" y="3065784"/>
            <a:ext cx="1148187" cy="396737"/>
            <a:chOff x="0" y="0"/>
            <a:chExt cx="1441300" cy="49801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41300" cy="498017"/>
            </a:xfrm>
            <a:custGeom>
              <a:avLst/>
              <a:gdLst/>
              <a:ahLst/>
              <a:cxnLst/>
              <a:rect l="l" t="t" r="r" b="b"/>
              <a:pathLst>
                <a:path w="1441300" h="498017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0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7800" y="-28575"/>
              <a:ext cx="1187300" cy="52659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93"/>
                </a:lnSpc>
                <a:spcBef>
                  <a:spcPct val="0"/>
                </a:spcBef>
              </a:pPr>
              <a:r>
                <a:rPr lang="en-US" sz="1066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Stage 4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561995" y="3065784"/>
            <a:ext cx="1148187" cy="396737"/>
            <a:chOff x="0" y="0"/>
            <a:chExt cx="1441300" cy="49801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41300" cy="498017"/>
            </a:xfrm>
            <a:custGeom>
              <a:avLst/>
              <a:gdLst/>
              <a:ahLst/>
              <a:cxnLst/>
              <a:rect l="l" t="t" r="r" b="b"/>
              <a:pathLst>
                <a:path w="1441300" h="498017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67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7800" y="-28575"/>
              <a:ext cx="1187300" cy="52659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93"/>
                </a:lnSpc>
                <a:spcBef>
                  <a:spcPct val="0"/>
                </a:spcBef>
              </a:pPr>
              <a:r>
                <a:rPr lang="en-US" sz="1066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Stage 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13838" y="3065784"/>
            <a:ext cx="1148187" cy="396737"/>
            <a:chOff x="0" y="0"/>
            <a:chExt cx="1441300" cy="49801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41300" cy="498017"/>
            </a:xfrm>
            <a:custGeom>
              <a:avLst/>
              <a:gdLst/>
              <a:ahLst/>
              <a:cxnLst/>
              <a:rect l="l" t="t" r="r" b="b"/>
              <a:pathLst>
                <a:path w="1441300" h="498017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EC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7800" y="-28575"/>
              <a:ext cx="1187300" cy="52659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93"/>
                </a:lnSpc>
                <a:spcBef>
                  <a:spcPct val="0"/>
                </a:spcBef>
              </a:pPr>
              <a:r>
                <a:rPr lang="en-US" sz="1066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Stage 6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 flipV="1">
            <a:off x="2871783" y="2181276"/>
            <a:ext cx="0" cy="618521"/>
          </a:xfrm>
          <a:prstGeom prst="line">
            <a:avLst/>
          </a:prstGeom>
          <a:ln w="38100" cap="flat">
            <a:solidFill>
              <a:srgbClr val="818DAB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027551" y="1133419"/>
            <a:ext cx="1651000" cy="294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224"/>
              </a:lnSpc>
            </a:pPr>
            <a:r>
              <a:rPr lang="en-US" sz="8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SAA Positive, DAT-SPECT negative</a:t>
            </a:r>
            <a:r>
              <a:rPr lang="en-U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and no qualifying symptoms</a:t>
            </a:r>
          </a:p>
        </p:txBody>
      </p:sp>
      <p:sp>
        <p:nvSpPr>
          <p:cNvPr id="28" name="AutoShape 28"/>
          <p:cNvSpPr/>
          <p:nvPr/>
        </p:nvSpPr>
        <p:spPr>
          <a:xfrm flipH="1" flipV="1">
            <a:off x="4958845" y="2181276"/>
            <a:ext cx="0" cy="618521"/>
          </a:xfrm>
          <a:prstGeom prst="line">
            <a:avLst/>
          </a:prstGeom>
          <a:ln w="38100" cap="flat">
            <a:solidFill>
              <a:srgbClr val="00C2CB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091271" y="1107617"/>
            <a:ext cx="1651000" cy="602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224"/>
              </a:lnSpc>
            </a:pPr>
            <a:r>
              <a:rPr lang="en-US" sz="8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SAA positive</a:t>
            </a:r>
            <a:r>
              <a:rPr lang="en-U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and subtle symptoms are present, but DAT-SPECT is negative there is no functional Impairment</a:t>
            </a:r>
          </a:p>
        </p:txBody>
      </p:sp>
      <p:sp>
        <p:nvSpPr>
          <p:cNvPr id="30" name="AutoShape 30"/>
          <p:cNvSpPr/>
          <p:nvPr/>
        </p:nvSpPr>
        <p:spPr>
          <a:xfrm>
            <a:off x="10190131" y="3645168"/>
            <a:ext cx="0" cy="618521"/>
          </a:xfrm>
          <a:prstGeom prst="line">
            <a:avLst/>
          </a:prstGeom>
          <a:ln w="38100" cap="flat">
            <a:solidFill>
              <a:srgbClr val="E87B85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364631" y="4880086"/>
            <a:ext cx="2186288" cy="910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224"/>
              </a:lnSpc>
            </a:pPr>
            <a:r>
              <a:rPr lang="en-US" sz="8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Severe functional impairment: </a:t>
            </a:r>
          </a:p>
          <a:p>
            <a:pPr algn="ctr" defTabSz="609630">
              <a:lnSpc>
                <a:spcPts val="1224"/>
              </a:lnSpc>
            </a:pPr>
            <a:r>
              <a:rPr lang="en-U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MDS-UPDRS Part I score of 37 or higher.</a:t>
            </a:r>
          </a:p>
          <a:p>
            <a:pPr algn="ctr" defTabSz="609630">
              <a:lnSpc>
                <a:spcPts val="1224"/>
              </a:lnSpc>
            </a:pPr>
            <a:r>
              <a:rPr lang="en-U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</a:t>
            </a:r>
          </a:p>
          <a:p>
            <a:pPr algn="ctr" defTabSz="609630">
              <a:lnSpc>
                <a:spcPts val="1224"/>
              </a:lnSpc>
            </a:pPr>
            <a:r>
              <a:rPr lang="en-U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MDS-UPDRS Part II motor daily function score of 40 or higher. </a:t>
            </a:r>
          </a:p>
          <a:p>
            <a:pPr algn="ctr" defTabSz="609630">
              <a:lnSpc>
                <a:spcPts val="1224"/>
              </a:lnSpc>
            </a:pPr>
            <a:endParaRPr lang="en-US" sz="8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077895" y="3645168"/>
            <a:ext cx="0" cy="618521"/>
          </a:xfrm>
          <a:prstGeom prst="line">
            <a:avLst/>
          </a:prstGeom>
          <a:ln w="38100" cap="flat">
            <a:solidFill>
              <a:srgbClr val="E1B900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252395" y="4891936"/>
            <a:ext cx="1800383" cy="602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224"/>
              </a:lnSpc>
            </a:pPr>
            <a:r>
              <a:rPr lang="en-US" sz="8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Mild functional impairment: </a:t>
            </a:r>
          </a:p>
          <a:p>
            <a:pPr algn="ctr" defTabSz="609630">
              <a:lnSpc>
                <a:spcPts val="1224"/>
              </a:lnSpc>
            </a:pPr>
            <a:r>
              <a:rPr lang="en-U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MDS-UPDRS Part I score of 13-24.</a:t>
            </a:r>
          </a:p>
          <a:p>
            <a:pPr algn="ctr" defTabSz="609630">
              <a:lnSpc>
                <a:spcPts val="1224"/>
              </a:lnSpc>
            </a:pPr>
            <a:r>
              <a:rPr lang="en-U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 </a:t>
            </a:r>
          </a:p>
          <a:p>
            <a:pPr algn="ctr" defTabSz="609630">
              <a:lnSpc>
                <a:spcPts val="1224"/>
              </a:lnSpc>
            </a:pPr>
            <a:r>
              <a:rPr lang="en-U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MDS-UPDRS Part II score of 14-26</a:t>
            </a:r>
          </a:p>
        </p:txBody>
      </p:sp>
      <p:sp>
        <p:nvSpPr>
          <p:cNvPr id="34" name="AutoShape 34"/>
          <p:cNvSpPr/>
          <p:nvPr/>
        </p:nvSpPr>
        <p:spPr>
          <a:xfrm>
            <a:off x="5965657" y="3645168"/>
            <a:ext cx="0" cy="618521"/>
          </a:xfrm>
          <a:prstGeom prst="line">
            <a:avLst/>
          </a:prstGeom>
          <a:ln w="38100" cap="flat">
            <a:solidFill>
              <a:srgbClr val="70B812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5140157" y="4880086"/>
            <a:ext cx="1651000" cy="602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224"/>
              </a:lnSpc>
            </a:pPr>
            <a:r>
              <a:rPr lang="en-US" sz="8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SAA and DAT-SPECT positive </a:t>
            </a:r>
            <a:r>
              <a:rPr lang="en-U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with subtle symptoms, but no meaningful functional impairment</a:t>
            </a:r>
          </a:p>
        </p:txBody>
      </p:sp>
      <p:sp>
        <p:nvSpPr>
          <p:cNvPr id="36" name="AutoShape 36"/>
          <p:cNvSpPr/>
          <p:nvPr/>
        </p:nvSpPr>
        <p:spPr>
          <a:xfrm>
            <a:off x="3853421" y="3645168"/>
            <a:ext cx="0" cy="618521"/>
          </a:xfrm>
          <a:prstGeom prst="line">
            <a:avLst/>
          </a:prstGeom>
          <a:ln w="38100" cap="flat">
            <a:solidFill>
              <a:srgbClr val="521DF1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027921" y="4880086"/>
            <a:ext cx="1651000" cy="44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224"/>
              </a:lnSpc>
            </a:pPr>
            <a:r>
              <a:rPr lang="en-US" sz="8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SAA Positive, DAT-SPECT </a:t>
            </a:r>
            <a:r>
              <a:rPr lang="en-U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positive, but still no qualifying symptoms.</a:t>
            </a:r>
          </a:p>
        </p:txBody>
      </p:sp>
      <p:sp>
        <p:nvSpPr>
          <p:cNvPr id="38" name="AutoShape 38"/>
          <p:cNvSpPr/>
          <p:nvPr/>
        </p:nvSpPr>
        <p:spPr>
          <a:xfrm flipV="1">
            <a:off x="7045907" y="2181276"/>
            <a:ext cx="0" cy="618521"/>
          </a:xfrm>
          <a:prstGeom prst="line">
            <a:avLst/>
          </a:prstGeom>
          <a:ln w="38100" cap="flat">
            <a:solidFill>
              <a:srgbClr val="C4BD19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6136260" y="1133419"/>
            <a:ext cx="1819295" cy="44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224"/>
              </a:lnSpc>
            </a:pPr>
            <a:r>
              <a:rPr lang="en-US" sz="8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Slight functional impairment: </a:t>
            </a:r>
          </a:p>
          <a:p>
            <a:pPr algn="ctr" defTabSz="609630">
              <a:lnSpc>
                <a:spcPts val="1224"/>
              </a:lnSpc>
            </a:pPr>
            <a:r>
              <a:rPr lang="en-U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MDS-UPDRS Part II motor daily function score of 3-13</a:t>
            </a:r>
          </a:p>
        </p:txBody>
      </p:sp>
      <p:sp>
        <p:nvSpPr>
          <p:cNvPr id="40" name="AutoShape 40"/>
          <p:cNvSpPr/>
          <p:nvPr/>
        </p:nvSpPr>
        <p:spPr>
          <a:xfrm flipV="1">
            <a:off x="9132970" y="2181276"/>
            <a:ext cx="0" cy="618521"/>
          </a:xfrm>
          <a:prstGeom prst="line">
            <a:avLst/>
          </a:prstGeom>
          <a:ln w="38100" cap="flat">
            <a:solidFill>
              <a:srgbClr val="F0702F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8325029" y="1133419"/>
            <a:ext cx="1775485" cy="756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224"/>
              </a:lnSpc>
            </a:pPr>
            <a:r>
              <a:rPr lang="en-US" sz="8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Moderate functional impairment: </a:t>
            </a:r>
          </a:p>
          <a:p>
            <a:pPr algn="ctr" defTabSz="609630">
              <a:lnSpc>
                <a:spcPts val="1224"/>
              </a:lnSpc>
            </a:pPr>
            <a:r>
              <a:rPr lang="en-U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MDS-UPDRS Part I score of 25-36.</a:t>
            </a:r>
          </a:p>
          <a:p>
            <a:pPr algn="ctr" defTabSz="609630">
              <a:lnSpc>
                <a:spcPts val="1224"/>
              </a:lnSpc>
            </a:pPr>
            <a:r>
              <a:rPr lang="en-U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</a:t>
            </a:r>
          </a:p>
          <a:p>
            <a:pPr algn="ctr" defTabSz="609630">
              <a:lnSpc>
                <a:spcPts val="1224"/>
              </a:lnSpc>
            </a:pPr>
            <a:r>
              <a:rPr lang="en-U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MDS-UPDRS Part II motor daily function score of  27-39.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258059" y="398308"/>
            <a:ext cx="5592823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569"/>
              </a:lnSpc>
              <a:spcBef>
                <a:spcPct val="0"/>
              </a:spcBef>
            </a:pPr>
            <a:r>
              <a:rPr lang="en-US" sz="387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NSD-ISS STAGING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2253935" y="3065784"/>
            <a:ext cx="1148187" cy="396737"/>
            <a:chOff x="0" y="0"/>
            <a:chExt cx="1441300" cy="49801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41300" cy="498017"/>
            </a:xfrm>
            <a:custGeom>
              <a:avLst/>
              <a:gdLst/>
              <a:ahLst/>
              <a:cxnLst/>
              <a:rect l="l" t="t" r="r" b="b"/>
              <a:pathLst>
                <a:path w="1441300" h="498017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ED5E6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7800" y="-28575"/>
              <a:ext cx="1187300" cy="52659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93"/>
                </a:lnSpc>
              </a:pPr>
              <a:r>
                <a:rPr lang="en-US" sz="1066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Stage 1A</a:t>
              </a:r>
            </a:p>
          </p:txBody>
        </p:sp>
      </p:grpSp>
      <p:sp>
        <p:nvSpPr>
          <p:cNvPr id="46" name="AutoShape 46"/>
          <p:cNvSpPr/>
          <p:nvPr/>
        </p:nvSpPr>
        <p:spPr>
          <a:xfrm>
            <a:off x="1738871" y="3645168"/>
            <a:ext cx="0" cy="61852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826537" y="4880086"/>
            <a:ext cx="1651000" cy="44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1224"/>
              </a:lnSpc>
            </a:pPr>
            <a:r>
              <a:rPr lang="en-U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Fully Penetrant </a:t>
            </a:r>
            <a:r>
              <a:rPr lang="en-US" sz="8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SNCA Mutation, </a:t>
            </a:r>
            <a:r>
              <a:rPr lang="en-US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but no alpha-synuclein biomarker or symptoms yet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85800" y="5914333"/>
            <a:ext cx="11005857" cy="422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680"/>
              </a:lnSpc>
              <a:spcBef>
                <a:spcPct val="0"/>
              </a:spcBef>
            </a:pPr>
            <a:r>
              <a:rPr lang="en-US" sz="1200" i="1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For the nonmotor staging pathway, the MDS-UPDRS Part I score excludes cognitive item 1.1. Cognitive staging uses item 1.1 together with MoCA. The final stage is the highest stage reached through motor, cognitive, or other nonmotor impairment.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88225-629A-45E1-6EFF-AEFC9A7AF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FF5E8-E1E1-553C-C7E3-D1B6CCC26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Dam, T., Pagano, G., Brumm, M. C., Gochanour, C., Poston, K. L., Weintraub, D., Chahine, L. M., Coffey, 	C., Tanner, C. M., </a:t>
            </a:r>
            <a:r>
              <a:rPr lang="en-US" dirty="0" err="1"/>
              <a:t>Kopil</a:t>
            </a:r>
            <a:r>
              <a:rPr lang="en-US" dirty="0"/>
              <a:t>, C. M., Xiao, Y., Chowdhury, S., Concha-</a:t>
            </a:r>
            <a:r>
              <a:rPr lang="en-US" dirty="0" err="1"/>
              <a:t>Marambio</a:t>
            </a:r>
            <a:r>
              <a:rPr lang="en-US" dirty="0"/>
              <a:t>, L., DiBiaso, P., Foroud, T., 	Frasier, M., Jennings, D., </a:t>
            </a:r>
            <a:r>
              <a:rPr lang="en-US" dirty="0" err="1"/>
              <a:t>Kieburtz</a:t>
            </a:r>
            <a:r>
              <a:rPr lang="en-US" dirty="0"/>
              <a:t>, K., Merchant, K., … Initiative, the P. P. M. (2024). </a:t>
            </a:r>
            <a:r>
              <a:rPr lang="en-US" i="1" dirty="0"/>
              <a:t>Neuronal alpha-	Synuclein Disease Integrated Staging System performance in PPMI, PASADENA, and SPARK baseline 	cohorts</a:t>
            </a:r>
            <a:r>
              <a:rPr lang="en-US" dirty="0"/>
              <a:t> (p. 2024.02.14.24302818). </a:t>
            </a:r>
            <a:r>
              <a:rPr lang="en-US" dirty="0" err="1"/>
              <a:t>medRxiv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https://doi.org/10.1101/2024.02.14.24302818</a:t>
            </a:r>
            <a:endParaRPr lang="en-US" dirty="0"/>
          </a:p>
          <a:p>
            <a:r>
              <a:rPr lang="en-US" dirty="0"/>
              <a:t>Goetz, C. G., Tilley, B. C., </a:t>
            </a:r>
            <a:r>
              <a:rPr lang="en-US" dirty="0" err="1"/>
              <a:t>Shaftman</a:t>
            </a:r>
            <a:r>
              <a:rPr lang="en-US" dirty="0"/>
              <a:t>, S. R., Stebbins, G. T., Fahn, S., Martinez‐Martin, P., </a:t>
            </a:r>
            <a:r>
              <a:rPr lang="en-US" dirty="0" err="1"/>
              <a:t>Poewe</a:t>
            </a:r>
            <a:r>
              <a:rPr lang="en-US" dirty="0"/>
              <a:t>, W., 			Sampaio, C., Stern, M. B., </a:t>
            </a:r>
            <a:r>
              <a:rPr lang="en-US" dirty="0" err="1"/>
              <a:t>Dodel</a:t>
            </a:r>
            <a:r>
              <a:rPr lang="en-US" dirty="0"/>
              <a:t>, R., Dubois, B., Holloway, R., Jankovic, J., </a:t>
            </a:r>
            <a:r>
              <a:rPr lang="en-US" dirty="0" err="1"/>
              <a:t>Kulisevsky</a:t>
            </a:r>
            <a:r>
              <a:rPr lang="en-US" dirty="0"/>
              <a:t>, J., Lang, A. E., Lees, 	A., </a:t>
            </a:r>
            <a:r>
              <a:rPr lang="en-US" dirty="0" err="1"/>
              <a:t>Leurgans</a:t>
            </a:r>
            <a:r>
              <a:rPr lang="en-US" dirty="0"/>
              <a:t>, S., LeWitt, P. A., Nyenhuis, D., … </a:t>
            </a:r>
            <a:r>
              <a:rPr lang="en-US" dirty="0" err="1"/>
              <a:t>LaPelle</a:t>
            </a:r>
            <a:r>
              <a:rPr lang="en-US" dirty="0"/>
              <a:t>, N. (2008). Movement Disorder Society‐sponsored 	revision of the Unified Parkinson’s Disease Rating Scale (MDS‐UPDRS): Scale presentation and </a:t>
            </a:r>
            <a:r>
              <a:rPr lang="en-US" dirty="0" err="1"/>
              <a:t>clinimetric</a:t>
            </a:r>
            <a:r>
              <a:rPr lang="en-US" dirty="0"/>
              <a:t> 	testing results. </a:t>
            </a:r>
            <a:r>
              <a:rPr lang="en-US" i="1" dirty="0"/>
              <a:t>Movement Disorders</a:t>
            </a:r>
            <a:r>
              <a:rPr lang="en-US" dirty="0"/>
              <a:t>, </a:t>
            </a:r>
            <a:r>
              <a:rPr lang="en-US" i="1" dirty="0"/>
              <a:t>23</a:t>
            </a:r>
            <a:r>
              <a:rPr lang="en-US" dirty="0"/>
              <a:t>(15), 2129–2170. </a:t>
            </a:r>
            <a:r>
              <a:rPr lang="en-US" dirty="0">
                <a:hlinkClick r:id="rId3"/>
              </a:rPr>
              <a:t>https://doi.org/10.1002/mds.22340</a:t>
            </a:r>
            <a:endParaRPr lang="en-US" dirty="0"/>
          </a:p>
          <a:p>
            <a:r>
              <a:rPr lang="en-US" dirty="0"/>
              <a:t>Marek, K. (2024). </a:t>
            </a:r>
            <a:r>
              <a:rPr lang="en-US" i="1" dirty="0"/>
              <a:t>The Parkinson’s Progression Markers Initiative (PPMI) Clinical—Establishing a Deeply 	</a:t>
            </a:r>
            <a:r>
              <a:rPr lang="en-US" i="1" dirty="0" err="1"/>
              <a:t>Phenotyped</a:t>
            </a:r>
            <a:r>
              <a:rPr lang="en-US" i="1" dirty="0"/>
              <a:t> PD Coho...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https://www.protocols.io/view/the-parkinson-s-progression-markers-initiative-	ppm-n92ldmw6ol5b/v2</a:t>
            </a:r>
            <a:endParaRPr lang="en-US" dirty="0"/>
          </a:p>
          <a:p>
            <a:r>
              <a:rPr lang="en-US" dirty="0"/>
              <a:t>Marek, K., Chowdhury, S., </a:t>
            </a:r>
            <a:r>
              <a:rPr lang="en-US" dirty="0" err="1"/>
              <a:t>Siderowf</a:t>
            </a:r>
            <a:r>
              <a:rPr lang="en-US" dirty="0"/>
              <a:t>, A., Lasch, S., Coffey, C. S., </a:t>
            </a:r>
            <a:r>
              <a:rPr lang="en-US" dirty="0" err="1"/>
              <a:t>Caspell</a:t>
            </a:r>
            <a:r>
              <a:rPr lang="en-US" dirty="0"/>
              <a:t>-Garcia, C., Simuni, T., Jennings, D., 	Tanner, C. M., Trojanowski, J. Q., Shaw, L. M., </a:t>
            </a:r>
            <a:r>
              <a:rPr lang="en-US" dirty="0" err="1"/>
              <a:t>Seibyl</a:t>
            </a:r>
            <a:r>
              <a:rPr lang="en-US" dirty="0"/>
              <a:t>, J., Schuff, N., Singleton, A., </a:t>
            </a:r>
            <a:r>
              <a:rPr lang="en-US" dirty="0" err="1"/>
              <a:t>Kieburtz</a:t>
            </a:r>
            <a:r>
              <a:rPr lang="en-US" dirty="0"/>
              <a:t>, K., Toga, A. W., 	Mollenhauer, B., </a:t>
            </a:r>
            <a:r>
              <a:rPr lang="en-US" dirty="0" err="1"/>
              <a:t>Galasko</a:t>
            </a:r>
            <a:r>
              <a:rPr lang="en-US" dirty="0"/>
              <a:t>, D., Chahine, L. M., … Initiative, the P. P. M. (2018). The Parkinson’s progression 	markers initiative (PPMI) – establishing a PD biomarker cohort. </a:t>
            </a:r>
            <a:r>
              <a:rPr lang="en-US" i="1" dirty="0"/>
              <a:t>Annals of Clinical and Translational 	Neurology</a:t>
            </a:r>
            <a:r>
              <a:rPr lang="en-US" dirty="0"/>
              <a:t>, </a:t>
            </a:r>
            <a:r>
              <a:rPr lang="en-US" i="1" dirty="0"/>
              <a:t>5</a:t>
            </a:r>
            <a:r>
              <a:rPr lang="en-US" dirty="0"/>
              <a:t>(12), 1460–1477. </a:t>
            </a:r>
            <a:r>
              <a:rPr lang="en-US" dirty="0">
                <a:hlinkClick r:id="rId5"/>
              </a:rPr>
              <a:t>https://doi.org/10.1002/acn3.644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45264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3960</TotalTime>
  <Words>1240</Words>
  <Application>Microsoft Macintosh PowerPoint</Application>
  <PresentationFormat>Widescreen</PresentationFormat>
  <Paragraphs>100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Aptos</vt:lpstr>
      <vt:lpstr>Arial</vt:lpstr>
      <vt:lpstr>Calibri</vt:lpstr>
      <vt:lpstr>Century Gothic</vt:lpstr>
      <vt:lpstr>Montserrat</vt:lpstr>
      <vt:lpstr>Montserrat Bold</vt:lpstr>
      <vt:lpstr>Montserrat Italics</vt:lpstr>
      <vt:lpstr>Wingdings 3</vt:lpstr>
      <vt:lpstr>Wisp</vt:lpstr>
      <vt:lpstr>Office Theme</vt:lpstr>
      <vt:lpstr>NSD Staging</vt:lpstr>
      <vt:lpstr>Introduction to NSD-ISS </vt:lpstr>
      <vt:lpstr>How Clinical Features Inform Individual’s NSD Stage</vt:lpstr>
      <vt:lpstr>MDS-UPDRS </vt:lpstr>
      <vt:lpstr>PowerPoint Presentation</vt:lpstr>
      <vt:lpstr>PowerPoint Presentation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Antar</dc:creator>
  <cp:lastModifiedBy>Alan Antar</cp:lastModifiedBy>
  <cp:revision>2</cp:revision>
  <dcterms:created xsi:type="dcterms:W3CDTF">2026-09-04T15:48:39Z</dcterms:created>
  <dcterms:modified xsi:type="dcterms:W3CDTF">2026-09-08T06:21:59Z</dcterms:modified>
</cp:coreProperties>
</file>